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01 · EXECUTIVE COVER &amp; VISION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Self-Improving Autonomous Fleet &amp; General Insurance OS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Unifying Kenyan county &amp; commercial fleet underwriting, computer-vision FNOL claims triage, automated designated email alerts, 60-minute Red SLA escalation, Reports AI Analytics, and God Mode continuous self-improvement.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25 Modules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ACROSS 7 ENTERPRISE DOMAINS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60-Min SLA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RED DASHBOARD &amp; EMAIL ALERTS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99.42%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GOD MODE AI PRECISION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&lt; 30s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INSTANT MULTI-CHANNEL SLA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NATIONAL SCOPE &amp; 25 MODULES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Built for Kenya's 47 Counties, EVs &amp; Commercial Fleets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Unified underwriting and claims command platform across Nairobi HQ, Mombasa, Kisumu, Nakuru, and Eldoret—featuring instant quick-jump navigation across 25 specialized operational sub-modules.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PROACTIVE EMAIL &amp; 60-MIN SLA GUARD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Automated Designated Email Alerts &amp; Red Dashboard SLA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Every new Claim ('Awaiting Approval') and New Policy Underwriting immediately dispatches rich HTML email notifications to designated approvers, escalating in crimson RED on the Dashboard if pending &gt;60 minutes.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AI ANALYTICS &amp; GOD MODE KERNEL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Predictive Actuarial BI + Autonomous Self-Improvement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Combines an embedded Neural BI Engine v4.2 under Reports (90-day GWP/Loss-Ratio forecasting &amp; fraud drift scan) with God Mode (Autonomous Kernel v9.4) that continuously self-tunes tariffs and heals DOM invariants.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01 / 12   ·   I. VISION &amp; DESIGN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02 · THE PROBLEM TODAY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Why Legacy Kenyan Insurance Administration Leaks Millions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Silent approval bottlenecks, unmonitored claim &amp; underwriting handoffs, forged paper stickers, and static non-learning rules erode underwriting profitability.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18-45 Days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LEGACY CLAIM SETTLEMENT CYCLE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14-22%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MOTOR CLAIMS FRAUD LEAKAGE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&gt; 60 Mins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UNFLAGGED APPROVAL BOTTLENECKS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0% Adaptive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STATIC TARIFFS &amp; MANUAL BI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PAIN POINT 01 · SILENT SLA BOTTLENECKS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Unnotified Claims &amp; Underwriting Files Sitting Idle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In legacy portals, newly filed FNOL claims and underwritten policies sit in queues for hours or days without automated email alerts to designated approvers or visual red-flag SLA escalation on executive dashboards.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PAIN POINT 02 · FRAUD &amp; PAPER STICKERS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Unverified Accident Photos &amp; Counterfeit Certificates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Adjusters receive WhatsApp photos stripped of EXIF GPS metadata, while static paper windshield stickers cannot be cryptographically verified by traffic police against live policy suspension status.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PAIN POINT 03 · REACTIVE REPORTING &amp; DRIFT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Manual Spreadsheets &amp; Non-Adaptive Risk Loadings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Underwriters lack interactive AI analytics inside their reporting ledgers to forecast 90-day loss ratios, detect garage parts inflation, or autonomously recalibrate fraud and tariff weights.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02 / 12   ·   I. VISION &amp; DESIGN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03 · 6 CORE DESIGN DECISIONS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6 Architectural Pillars Enforced Across EIMS ProSystem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Every module follows strict engineering, notification, and actuarial invariants verified by automated regression suites (check-ui.js &amp; God Mode self-diagnostics).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26 / 26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AUTOMATED UI INVARIANTS PASSING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100%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CLAIM &amp; UNDERWRITING EMAIL HOOKS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60-Min Red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PENDING APPROVAL SLA WATCHDOG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SHA-256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IMMUTABLE AKI HASH SEALS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DECISION 01 &amp; 02 · TELEMETRY &amp; EMAIL ALERTS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1. Instant Designated Emails · 2. 60-Min Red SLA Escalation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Filing any claim dispatches an 'Awaiting Approval' email to designated addresses; every new underwriting sends a 'New Underwriting Notification' email. Items pending &gt;=60m turn RED on the Executive Dashboard.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DECISION 03 &amp; 04 · TRIAGE &amp; QR CERTIFICATES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3. Deterministic Fraud Triage · 4. Scannable AKI QR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FNOL captures camera EXIF + damage annotations (&lt;25% Green Path, 25-59% Yellow, &gt;=60% Red SIU). Every motor policy renders a 3-sticker AKI layout + NTSA/Police scannable verification badge.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DECISION 05 &amp; 06 · AI BI &amp; GOD MODE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5. Embedded Reports AI Analytics · 6. God Mode Loop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Reports include an interactive Neural BI Engine v4.2 for natural-language forecasting, while God Mode runs a continuous background self-improvement loop every 25 seconds to optimize precision and heal anomalies.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03 / 12   ·   I. VISION &amp; DESIGN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04 · 7 DOMAINS &amp; 25 MODULES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Arranged 7-Domain Enterprise Architecture &amp; Quick-Jump Bar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All 25 operational sub-modules are logically organized into 7 single-open sidebar accordion groups paired with a top-header Quick Module Jump Switcher.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7 Groups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CORE, CLAIMS, FLEET, TAX, BI, AI, SETTINGS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25 Modules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OPERATIONAL VIEWS + 18 MODALS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1-Click Jump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HEADER MODULE SWITCHER BAR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5 Branches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NAIROBI, MOMBASA, KISUMU, NAKURU, ELDORET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DOMAINS 1-3 · OPERATIONS, CLAIMS &amp; UNDERWRITING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Core Command, Claims Recovery &amp; Fleet Underwriting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1. Core Operations: Executive Dashboard (with Red 60m SLA Banner), GIS Telemetry Map.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2. Claims &amp; Recovery: FNOL Stepper, Master Directory, Garages &amp; Work Orders, Loss Assessors &amp; SIU, Subrogation.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3. Underwriting &amp; Fleet: Policy &amp; Cert Registry, County Fleet, International EV Premium, Reinsurance Quota Share.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DOMAINS 4-5 · FINANCE, TAX &amp; AI ANALYTICS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Statutory Compliance &amp; Predictive Analytics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4. Finance &amp; Compliance: M-PESA B2C &amp; STK Push, e-Citizen &amp; PesaFlow, KRA iTax &amp; eTIMS, IRA Solvency Returns.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5. Analytics &amp; Staff: Reports &amp; AI Analytics Query Center (Neural BI v4.2), Loss Ratio Risk Analytics, Remote Staff Monitor.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DOMAINS 6-7 · AI TOOLS, GOD MODE &amp; SETTINGS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Computer Vision, Self-Improvement &amp; Notification Gateway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6. AI Tools &amp; Self-Improvement: ANPR License Plate Reader, QR Code &amp; Badge Engine, EIMS Neural AI Copilot, God Mode Self-Improver.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7. Platform &amp; Settings: Subscriptions &amp; Licenses, Notification &amp; Designated Email Simulator, Mobile App Portal Sim.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04 / 12   ·   II. OPERATIONS &amp; WORKFLOWS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05 · CLAIM ALERTS &amp; 60M RED SLA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Automated 'Awaiting Approval' Emails &amp; 60-Min Red Dashboard Alert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Zero silent bottlenecks: every registered claim immediately emails designated approvers and is policed by a live 60-minute SLA countdown on the Executive Dashboard.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Instant SMTP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CLAIM 'AWAITING APPROVAL' EMAIL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60 Minutes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MANDATORY APPROVAL SLA LIMIT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Red Banner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CRIMSON DASHBOARD ESCALATION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1-Click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APPROVE SINGLE OR ALL OVERDUE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TRIGGER 01 · CLAIM FILED (AWAITING APPROVAL)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Automatic Email Dispatch on Every FNOL Submission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When saveFNOLClaim() or Quick Demo Claim runs, the claim is stamped with submittedAt and status 'Pending (Awaiting Approval)', dispatching a rich HTML email to approvals@eims-prosystem.go.ke &amp; claims-desk@eims-prosystem.go.ke.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TRIGGER 02 · 60-MINUTE RED DASHBOARD ESCALATION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Live Elapsed-Time Watchdog &amp; Crimson SLA Table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A 15-second background watchdog computes elapsed minutes for all pending claims and underwriting policies. Any file &gt;=60 minutes turns crimson RED at the top of the Dashboard and fires an SLA Breach email.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EXECUTIVE ACTION &amp; SLA TESTING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1-Click 'Approve Now' &amp; '+60m SLA Breach' Simulator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Executives can approve individual overdue items or clear the entire queue in one click directly from the red Dashboard banner, or click 'Simulate +60m SLA Breach' to test immediate escalation on new items.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05 / 12   ·   II. OPERATIONS &amp; WORKFLOWS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06 · UNDERWRITING EMAIL &amp; EV DESK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New Underwriting Email Notifications, County Fleet &amp; EV Tariffing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Whenever a new Motor, County Fleet, or Electric Vehicle policy is underwritten, a notification email is automatically dispatched to designated underwriting recipients.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100% Notified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NEW UNDERWRITING EMAIL DISPATCH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-15% Rebate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EV ADAS &amp; THERMAL DISCOUNTS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47 Counties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BULK CSV FLEET UNDERWRITING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AKI Certs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INSTANT 3-STICKER &amp; QR ISSUE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AUTOMATED UNDERWRITING EMAIL HOOKS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Instant Notification Across All Underwriting Flows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Whether creating a policy in Policy Registry (confirmCreateNewPolicy), issuing an EV Certificate (issueEVPolicyCertificate), or activating an inline certificate, EIMS emails underwriting@eims-prosystem.go.ke immediately.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INTERNATIONAL EV ACTUARIAL CALCULATOR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HV Battery Scarcity Loading &amp; Telemetry Rebates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Computes specialized Electric Vehicle premiums (BYD Atto 3, Tesla Model Y, Roam Air, BasiGo E9) factoring 3.50% base rate, +15% HV battery loading, -12.5% low-mileage telemetry rebate, and -15% ADAS safety discounts.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CONFIGURABLE DESIGNATED RECIPIENTS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Live Email Recipient Bar &amp; Multi-Channel Audit Log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Under Notification Simulator, administrators can customize comma-separated designated email addresses, test 'Claim Awaiting Approval' and 'New Underwriting' emails, and inspect the SMTP 250 OK audit table.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06 / 12   ·   II. OPERATIONS &amp; WORKFLOWS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07 · GARAGES, SUBROGATION &amp; QR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5-Stage Garage SLA, Subrogation Recovery &amp; Scannable QR Engine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End-to-end post-approval repair governance, third-party liability recovery, and cryptographic NTSA / Kenya Police roadside QR verification.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5 Stages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INTAKE TO QA PASS MILESTONES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KSh 4.85M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ACTIVE SUBROGATION PIPELINE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85px x 85px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3-STICKER AKI &amp; NTSA QR BADGES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98.8% OCR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CNN KENYAN PLATE RECOGNITION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ACCREDITED GARAGE &amp; ASSESSOR NETWORK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5-Stage Work Orders, Loss Assessors &amp; 5% KRA WHT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Assigns claims to accredited panel beaters and loss assessors/SIU investigators, tracks 5-stage repair milestones, and generates digital release vouchers with automatic 5% KRA Withholding Tax deduction.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SUBROGATION RECOVERY LEDGER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Third-Party Insurer Demand &amp; Arbitration Tracking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Pursues negligent third-party insurers across active recovery files, automating legal demand notice generation and tracking recovered indemnity funds back into the claims reserve.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DYNAMIC QR ENGINE &amp; NTSA POLICE BADGE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100% Smartphone-Scannable Verification Badges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Generates high-contrast scannable QR codes for AKI 3-part windshield stickers and official 'SCAN TO VERIFY - NTSA / Police Verified' badges with live camera/verifier testing.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07 / 12   ·   II. OPERATIONS &amp; WORKFLOWS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08 · 4-LAYER CLOUD &amp; TELEMETRY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Serverless Firebase Hosting, Cloud Functions &amp; Telemetry Stack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Deployed live at https://eims-prosystem.web.app with sub-second interactivity, persistent local + Firestore state, and multi-channel notification dispatch.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4 Layers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SPA/NEXT.JS, CDN, FUNCTIONS, DB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3 Channels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RICH EMAIL, WHATSAPP &amp; SMS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0 Idle Recalcs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GPU-CLEAN DARK &amp; ORANGE UI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PWA + APK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WEB APP &amp; CAPACITOR ANDROID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LAYER 1 &amp; 2 · PRESENTATION &amp; FIREBASE CDN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High-Contrast Orange &amp; Obsidian Black Enterprise UI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Engineered with a sleek obsidian-black and vibrant orange (#ff6b00) design system, responsive mobile drawer, and global Firebase Hosting CDN deployment.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LAYER 3 · SERVERLESS DOMAIN &amp; EMAIL ENGINE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Deterministic Fraud, Statutory Math &amp; Email Relay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Executes authoritative fraud scoring, IRA Cap 487 statutory levy math, and automated SMTP/SendGrid email dispatch for pending claim approvals, new underwritings, and 60-minute SLA escalations.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LAYER 4 · REAL-TIME PERSISTENCE &amp; AUDIT TRAIL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Firestore Collections + LocalStorage Continuity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Synchronizes claims, policies, certificates, notification_logs, designated_emails, and God Mode telemetry with instant local persistence so no state is lost across sessions.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08 / 12   ·   III. ARCHITECTURE &amp; TRUST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09 · ZERO-TRUST &amp; CAP 487 TAX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Zero-Trust Security Rules, IRA Cap 487 &amp; KRA eTIMS Compliance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Production-hardened access control paired with automated Kenyan statutory tax computation, e-Citizen SSO, and PesaFlow Paybill 222222 settlement.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Default Deny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ZERO-TRUST FIRESTORE RULES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0.45% + 40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PHCF + ITL + STAMP DUTY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16% &amp; 5%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KRA ETIMS VAT &amp; GARAGE WHT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248% CAR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IRA CAPITAL ADEQUACY RATIO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ZERO-TRUST FIRESTORE RULES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Strict Collection-Level Least Privilege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Protects claimant and policyholder PII behind authenticated staff tokens while allowing read-only public verification on /certificates/{certId} for traffic police QR scans.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IRA CAP 487 &amp; KRA ITAX / ETIMS SUITE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1-Click Statutory Returns &amp; Control Unit Sync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Automatically computes Policyholders Compensation Fund (0.25%), Training Levy (0.20%), Stamp Duty (KSh 40), 16% VAT, and 5% Garage WHT with exportable KIRA Form 104 and KRA eTIMS bulk sync.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E-CITIZEN SSO &amp; PESAFLOW GATEWAY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Government Paybill 222222 &amp; Multi-Rail Payouts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Supports Republic of Kenya e-Citizen National ID Single Sign-On, PesaFlow Government checkout, and sub-30-second M-PESA B2C, Airtel Money, and PesaLink EFT claim disbursements.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09 / 12   ·   III. ARCHITECTURE &amp; TRUST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10 · REINSURANCE &amp; PRICING TIERS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3-Reinsurer Treaty Ceding &amp; Enterprise Subscription Tiers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Transparent seat-based SaaS licensing for agencies, multi-branch underwriters, and national county fleets, backed by automated reinsurance risk splitting.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KSh 369K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STARTER TIER (UP TO 5 SEATS)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KSh 449K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PROFESSIONAL TIER (25 SEATS)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KSh 699K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ENTERPRISE TIER (UNLIMITED)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50 / 30 / 20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RETENTION / KENYA RE / SURPLUS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3-REINSURER QUOTA SHARE &amp; SURPLUS ENGINE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Automated Treaty Ceding Across Gross Exposure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Dynamically allocates risk across EIMS Net Retention (50%), Kenya Reinsurance Corp Mandatory Quota Share (30%), and ZEP-RE / Africa Re Surplus (20%), plus Working Excess of Loss (XOL) above KSh 15M.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3 COMMERCIAL SUBSCRIPTION TIERS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Differentiated by User Seat Capacity &amp; AI Access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Starter (KSh 369,000/mo): Up to 5 seats, 50 policies, standard FNOL.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Professional (KSh 449,000/mo): Up to 25 seats, 500 policies, ANPR OCR, AKI QR, M-PESA B2C.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Enterprise (KSh 699,000/mo): Unlimited seats, 47-County Fleet, Reinsurance, AI Analytics &amp; God Mode.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REMOTE STAFF (WFH) SURVEILLANCE CONSOLE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Live Session Telemetry &amp; Productivity Pulse Checks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Monitors remote and branch staff sessions, TLS VPN IPs, active claim/underwriting tasks, and productivity pulse scores across Nairobi, Mombasa, Kisumu, and Nakuru.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10 / 12   ·   III. ARCHITECTURE &amp; TRUST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11 · REPORTS AI ANALYTICS TOOL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Neural BI Engine v4.2 Under Reports &amp; Executive AI Copilot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Embedded directly inside Reports &amp; Analytics Query Center for natural-language actuarial queries, 90-day forecasting, anomaly detection, and executive brief export.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Neural BI v4.2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EMBEDDED INSIDE REPORTS CENTER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KSh 154.8M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AI 90-DAY GWP FORECAST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38.4% LR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PROJECTED NET LOSS RATIO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5 AI Presets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1-CLICK ACTUARIAL MODELS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INTERACTIVE REPORTS AI WORKBENCH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Natural-Language Prompt Bar &amp; 5 Preset Actuarial Models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Located directly under Reports (#view-production-reports), enabling executives to run custom AI queries or 1-click presets: 90-Day Loss Ratio Forecast, Anomaly &amp; Fraud Drift Scan, Branch Profitability, 60m SLA Bottleneck Audit, and Reinsurance Optimizer.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4 PREDICTIVE ACTUARIAL KPI CARDS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Real-Time Forecasting &amp; SIU Savings Quantification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Computes live 90-Day GWP Forecast (96.4% confidence), Projected Net Loss Ratio vs. 55% IRA benchmark, SIU Anomaly &amp; Garage Cost Drift flags (KSh 2.45M protected), and dynamic EV/PSV tariff prescriptions.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CONVERSATIONAL NEURAL AI COPILOT &amp; EXPORT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1-Click Executive Brief Download &amp; Multi-Ledger Synthesis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Pairs the embedded Reports AI Analytics Workbench with the global AI Assist modal—strictly separating new production from renewals and exporting timestamped AI Analytics Briefs.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11 / 12   ·   IV. AI, GOD MODE &amp; IMPACT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706"/>
          </a:solidFill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SidebarBg"/>
          <p:cNvSpPr/>
          <p:nvPr/>
        </p:nvSpPr>
        <p:spPr>
          <a:xfrm>
            <a:off x="0" y="0"/>
            <a:ext cx="2950000" cy="6858000"/>
          </a:xfrm>
          <a:prstGeom prst="rect">
            <a:avLst/>
          </a:prstGeom>
          <a:solidFill>
            <a:srgbClr val="0A0806"/>
          </a:solidFill>
          <a:ln w="12700">
            <a:solidFill>
              <a:srgbClr val="272015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BrandHeader"/>
          <p:cNvSpPr/>
          <p:nvPr/>
        </p:nvSpPr>
        <p:spPr>
          <a:xfrm>
            <a:off x="160000" y="160000"/>
            <a:ext cx="26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500" b="1" dirty="0">
                <a:solidFill>
                  <a:srgbClr val="F59E0B"/>
                </a:solidFill>
                <a:latin typeface="Arial"/>
              </a:rPr>
              <a:t>EIMS PROSYSTEM</a:t>
            </a:r>
          </a:p>
          <a:p>
            <a:pPr algn="l">
              <a:spcBef>
                <a:spcPts val="300"/>
              </a:spcBef>
            </a:pPr>
            <a:r>
              <a:rPr lang="en-US" sz="750" b="1" dirty="0">
                <a:solidFill>
                  <a:srgbClr val="A1A1AA"/>
                </a:solidFill>
                <a:latin typeface="Arial"/>
              </a:rPr>
              <a:t>KENYA INSURTECH DECK · 12 SLIDES</a:t>
            </a:r>
          </a:p>
        </p:txBody>
      </p:sp>
      <p:sp>
        <p:nvSpPr>
          <p:cNvPr id="5" name="Sec_0"/>
          <p:cNvSpPr/>
          <p:nvPr/>
        </p:nvSpPr>
        <p:spPr>
          <a:xfrm>
            <a:off x="160000" y="76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I. VISION &amp; DESIGN</a:t>
            </a:r>
          </a:p>
        </p:txBody>
      </p:sp>
      <p:sp>
        <p:nvSpPr>
          <p:cNvPr id="6" name="Nav_01"/>
          <p:cNvSpPr/>
          <p:nvPr/>
        </p:nvSpPr>
        <p:spPr>
          <a:xfrm>
            <a:off x="160000" y="99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Executive Cover &amp; Vision</a:t>
            </a:r>
          </a:p>
        </p:txBody>
      </p:sp>
      <p:sp>
        <p:nvSpPr>
          <p:cNvPr id="7" name="Nav_02"/>
          <p:cNvSpPr/>
          <p:nvPr/>
        </p:nvSpPr>
        <p:spPr>
          <a:xfrm>
            <a:off x="160000" y="137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02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The Problem Today</a:t>
            </a:r>
          </a:p>
        </p:txBody>
      </p:sp>
      <p:sp>
        <p:nvSpPr>
          <p:cNvPr id="8" name="Nav_03"/>
          <p:cNvSpPr/>
          <p:nvPr/>
        </p:nvSpPr>
        <p:spPr>
          <a:xfrm>
            <a:off x="160000" y="174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03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6 Core Design Decisions</a:t>
            </a:r>
          </a:p>
        </p:txBody>
      </p:sp>
      <p:sp>
        <p:nvSpPr>
          <p:cNvPr id="9" name="Sec_3"/>
          <p:cNvSpPr/>
          <p:nvPr/>
        </p:nvSpPr>
        <p:spPr>
          <a:xfrm>
            <a:off x="160000" y="2120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II. OPERATIONS &amp; WORKFLOWS</a:t>
            </a:r>
          </a:p>
        </p:txBody>
      </p:sp>
      <p:sp>
        <p:nvSpPr>
          <p:cNvPr id="10" name="Nav_04"/>
          <p:cNvSpPr/>
          <p:nvPr/>
        </p:nvSpPr>
        <p:spPr>
          <a:xfrm>
            <a:off x="160000" y="235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04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7 Domains &amp; 25 Modules</a:t>
            </a:r>
          </a:p>
        </p:txBody>
      </p:sp>
      <p:sp>
        <p:nvSpPr>
          <p:cNvPr id="11" name="Nav_05"/>
          <p:cNvSpPr/>
          <p:nvPr/>
        </p:nvSpPr>
        <p:spPr>
          <a:xfrm>
            <a:off x="160000" y="273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05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Claim Alerts &amp; 60m Red SLA</a:t>
            </a:r>
          </a:p>
        </p:txBody>
      </p:sp>
      <p:sp>
        <p:nvSpPr>
          <p:cNvPr id="12" name="Nav_06"/>
          <p:cNvSpPr/>
          <p:nvPr/>
        </p:nvSpPr>
        <p:spPr>
          <a:xfrm>
            <a:off x="160000" y="310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06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Underwriting Email &amp; EV Desk</a:t>
            </a:r>
          </a:p>
        </p:txBody>
      </p:sp>
      <p:sp>
        <p:nvSpPr>
          <p:cNvPr id="13" name="Nav_07"/>
          <p:cNvSpPr/>
          <p:nvPr/>
        </p:nvSpPr>
        <p:spPr>
          <a:xfrm>
            <a:off x="160000" y="348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07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Garages, Subrogation &amp; QR</a:t>
            </a:r>
          </a:p>
        </p:txBody>
      </p:sp>
      <p:sp>
        <p:nvSpPr>
          <p:cNvPr id="14" name="Sec_7"/>
          <p:cNvSpPr/>
          <p:nvPr/>
        </p:nvSpPr>
        <p:spPr>
          <a:xfrm>
            <a:off x="160000" y="385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III. ARCHITECTURE &amp; TRUST</a:t>
            </a:r>
          </a:p>
        </p:txBody>
      </p:sp>
      <p:sp>
        <p:nvSpPr>
          <p:cNvPr id="15" name="Nav_08"/>
          <p:cNvSpPr/>
          <p:nvPr/>
        </p:nvSpPr>
        <p:spPr>
          <a:xfrm>
            <a:off x="160000" y="409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08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4-Layer Cloud &amp; Telemetry</a:t>
            </a:r>
          </a:p>
        </p:txBody>
      </p:sp>
      <p:sp>
        <p:nvSpPr>
          <p:cNvPr id="16" name="Nav_09"/>
          <p:cNvSpPr/>
          <p:nvPr/>
        </p:nvSpPr>
        <p:spPr>
          <a:xfrm>
            <a:off x="160000" y="446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09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Zero-Trust &amp; Cap 487 Tax</a:t>
            </a:r>
          </a:p>
        </p:txBody>
      </p:sp>
      <p:sp>
        <p:nvSpPr>
          <p:cNvPr id="17" name="Nav_10"/>
          <p:cNvSpPr/>
          <p:nvPr/>
        </p:nvSpPr>
        <p:spPr>
          <a:xfrm>
            <a:off x="160000" y="484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10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Reinsurance &amp; Pricing Tiers</a:t>
            </a:r>
          </a:p>
        </p:txBody>
      </p:sp>
      <p:sp>
        <p:nvSpPr>
          <p:cNvPr id="18" name="Sec_10"/>
          <p:cNvSpPr/>
          <p:nvPr/>
        </p:nvSpPr>
        <p:spPr>
          <a:xfrm>
            <a:off x="160000" y="5215000"/>
            <a:ext cx="263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</a:rPr>
              <a:t>IV. AI, GOD MODE &amp; IMPACT</a:t>
            </a:r>
          </a:p>
        </p:txBody>
      </p:sp>
      <p:sp>
        <p:nvSpPr>
          <p:cNvPr id="19" name="Nav_11"/>
          <p:cNvSpPr/>
          <p:nvPr/>
        </p:nvSpPr>
        <p:spPr>
          <a:xfrm>
            <a:off x="160000" y="5450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120F0C"/>
          </a:solidFill>
          <a:ln w="12700">
            <a:solidFill>
              <a:srgbClr val="221E1A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11   </a:t>
            </a:r>
            <a:r>
              <a:rPr lang="en-US" sz="950" b="0" dirty="0">
                <a:solidFill>
                  <a:srgbClr val="D4D4D8"/>
                </a:solidFill>
                <a:latin typeface="Arial"/>
              </a:rPr>
              <a:t>Reports AI Analytics Tool</a:t>
            </a:r>
          </a:p>
        </p:txBody>
      </p:sp>
      <p:sp>
        <p:nvSpPr>
          <p:cNvPr id="20" name="Nav_12"/>
          <p:cNvSpPr/>
          <p:nvPr/>
        </p:nvSpPr>
        <p:spPr>
          <a:xfrm>
            <a:off x="160000" y="5825000"/>
            <a:ext cx="2630000" cy="340000"/>
          </a:xfrm>
          <a:prstGeom prst="roundRect">
            <a:avLst>
              <a:gd name="adj" fmla="val 18000"/>
            </a:avLst>
          </a:prstGeom>
          <a:solidFill>
            <a:srgbClr val="26190A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900" b="1" dirty="0">
                <a:solidFill>
                  <a:srgbClr val="F59E0B"/>
                </a:solidFill>
                <a:latin typeface="Courier New"/>
              </a:rPr>
              <a:t>12   </a:t>
            </a:r>
            <a:r>
              <a:rPr lang="en-US" sz="950" b="1" dirty="0">
                <a:solidFill>
                  <a:srgbClr val="F59E0B"/>
                </a:solidFill>
                <a:latin typeface="Arial"/>
              </a:rPr>
              <a:t>God Mode &amp; 36-Mo Roadmap</a:t>
            </a:r>
          </a:p>
        </p:txBody>
      </p:sp>
      <p:sp>
        <p:nvSpPr>
          <p:cNvPr id="21" name="SlideBadge"/>
          <p:cNvSpPr/>
          <p:nvPr/>
        </p:nvSpPr>
        <p:spPr>
          <a:xfrm>
            <a:off x="3300000" y="320000"/>
            <a:ext cx="3400000" cy="320000"/>
          </a:xfrm>
          <a:prstGeom prst="roundRect">
            <a:avLst>
              <a:gd name="adj" fmla="val 50000"/>
            </a:avLst>
          </a:prstGeom>
          <a:solidFill>
            <a:srgbClr val="1F1408"/>
          </a:solidFill>
          <a:ln w="12700">
            <a:solidFill>
              <a:srgbClr val="D97706"/>
            </a:solidFill>
          </a:ln>
        </p:spPr>
        <p:txBody>
          <a:bodyPr wrap="square" lIns="114300" tIns="91440" rIns="114300" bIns="91440" anchor="ctr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Arial"/>
              </a:rPr>
              <a:t>SLIDE 12 · GOD MODE &amp; 36-MO ROADMAP</a:t>
            </a:r>
          </a:p>
        </p:txBody>
      </p:sp>
      <p:sp>
        <p:nvSpPr>
          <p:cNvPr id="22" name="SlideTitle"/>
          <p:cNvSpPr/>
          <p:nvPr/>
        </p:nvSpPr>
        <p:spPr>
          <a:xfrm>
            <a:off x="3300000" y="720000"/>
            <a:ext cx="85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rial"/>
              </a:rPr>
              <a:t>God Mode Continuous Self-Improvement Engine &amp; National Roadmap</a:t>
            </a:r>
          </a:p>
          <a:p>
            <a:pPr algn="l">
              <a:spcBef>
                <a:spcPts val="600"/>
              </a:spcBef>
            </a:pPr>
            <a:r>
              <a:rPr lang="en-US" sz="1150" b="0" dirty="0">
                <a:solidFill>
                  <a:srgbClr val="D4D4D8"/>
                </a:solidFill>
                <a:latin typeface="Arial"/>
              </a:rPr>
              <a:t>Autonomous Kernel v9.4 continuously evolves fraud weights, actuarial loadings, 60-minute SLA escalations, and UI invariants as EIMS scales across East Africa.</a:t>
            </a:r>
          </a:p>
        </p:txBody>
      </p:sp>
      <p:sp>
        <p:nvSpPr>
          <p:cNvPr id="23" name="KPI_0"/>
          <p:cNvSpPr/>
          <p:nvPr/>
        </p:nvSpPr>
        <p:spPr>
          <a:xfrm>
            <a:off x="330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Gen #142+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CONTINUOUS 25S EVOLUTION LOOP</a:t>
            </a:r>
          </a:p>
        </p:txBody>
      </p:sp>
      <p:sp>
        <p:nvSpPr>
          <p:cNvPr id="24" name="KPI_1"/>
          <p:cNvSpPr/>
          <p:nvPr/>
        </p:nvSpPr>
        <p:spPr>
          <a:xfrm>
            <a:off x="547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99.42%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SELF-IMPROVING FRAUD PRECISION</a:t>
            </a:r>
          </a:p>
        </p:txBody>
      </p:sp>
      <p:sp>
        <p:nvSpPr>
          <p:cNvPr id="25" name="KPI_2"/>
          <p:cNvSpPr/>
          <p:nvPr/>
        </p:nvSpPr>
        <p:spPr>
          <a:xfrm>
            <a:off x="764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5 Subroutines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1-CLICK OPTIMIZATION ENGINES</a:t>
            </a:r>
          </a:p>
        </p:txBody>
      </p:sp>
      <p:sp>
        <p:nvSpPr>
          <p:cNvPr id="26" name="KPI_3"/>
          <p:cNvSpPr/>
          <p:nvPr/>
        </p:nvSpPr>
        <p:spPr>
          <a:xfrm>
            <a:off x="9810000" y="1980000"/>
            <a:ext cx="2010000" cy="1050000"/>
          </a:xfrm>
          <a:prstGeom prst="roundRect">
            <a:avLst>
              <a:gd name="adj" fmla="val 12000"/>
            </a:avLst>
          </a:prstGeom>
          <a:solidFill>
            <a:srgbClr val="120E0A"/>
          </a:solidFill>
          <a:ln w="12700">
            <a:solidFill>
              <a:srgbClr val="78450F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1900" b="1" dirty="0">
                <a:solidFill>
                  <a:srgbClr val="F59E0B"/>
                </a:solidFill>
                <a:latin typeface="Arial"/>
              </a:rPr>
              <a:t>KSh 2.5B+</a:t>
            </a:r>
          </a:p>
          <a:p>
            <a:pPr algn="l">
              <a:spcBef>
                <a:spcPts val="500"/>
              </a:spcBef>
            </a:pPr>
            <a:r>
              <a:rPr lang="en-US" sz="800" b="1" dirty="0">
                <a:solidFill>
                  <a:srgbClr val="A1A1AA"/>
                </a:solidFill>
                <a:latin typeface="Arial"/>
              </a:rPr>
              <a:t>36-MONTH NATIONAL GWP TARGET</a:t>
            </a:r>
          </a:p>
        </p:txBody>
      </p:sp>
      <p:sp>
        <p:nvSpPr>
          <p:cNvPr id="27" name="Card_0"/>
          <p:cNvSpPr/>
          <p:nvPr/>
        </p:nvSpPr>
        <p:spPr>
          <a:xfrm>
            <a:off x="33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GOD MODE · AUTONOMOUS KERNEL V9.4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Continuous Background Self-Improvement &amp; Telemetry Stream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Accessible from the top header ('GOD MODE: ON') and sidebar (#view-god-mode). Auto-cycles every 25s to recalibrate neural fraud weights, optimize loss-ratio tariffs, sweep &gt;60m pending approvals, and self-heal DOM invariants.</a:t>
            </a:r>
          </a:p>
        </p:txBody>
      </p:sp>
      <p:sp>
        <p:nvSpPr>
          <p:cNvPr id="28" name="Card_1"/>
          <p:cNvSpPr/>
          <p:nvPr/>
        </p:nvSpPr>
        <p:spPr>
          <a:xfrm>
            <a:off x="62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5 TARGETED SELF-IMPROVEMENT ENGINES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On-Demand Actuarial, Fraud, SLA &amp; Latency Optimization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1. Recalibrate Neural Fraud Weights · 2. Auto-Optimize Underwriting Loss-Ratio Tariffs · 3. Sweep &gt;60m Pending Approvals &amp; Dispatch Red Alerts · 4. Verify &amp; Self-Heal 25 Module DOM Invariants · 5. Compact Ledger Indexes.</a:t>
            </a:r>
          </a:p>
        </p:txBody>
      </p:sp>
      <p:sp>
        <p:nvSpPr>
          <p:cNvPr id="29" name="Card_2"/>
          <p:cNvSpPr/>
          <p:nvPr/>
        </p:nvSpPr>
        <p:spPr>
          <a:xfrm>
            <a:off x="9100000" y="3240000"/>
            <a:ext cx="2720000" cy="2850000"/>
          </a:xfrm>
          <a:prstGeom prst="roundRect">
            <a:avLst>
              <a:gd name="adj" fmla="val 8000"/>
            </a:avLst>
          </a:prstGeom>
          <a:solidFill>
            <a:srgbClr val="110E0B"/>
          </a:solidFill>
          <a:ln w="12700">
            <a:solidFill>
              <a:srgbClr val="45270A"/>
            </a:solidFill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00" b="1" dirty="0">
                <a:solidFill>
                  <a:srgbClr val="F59E0B"/>
                </a:solidFill>
                <a:latin typeface="Courier New"/>
              </a:rPr>
              <a:t>36-MONTH NATIONAL &amp; REGIONAL SCALE ROADMAP</a:t>
            </a:r>
          </a:p>
          <a:p>
            <a:pPr algn="l">
              <a:spcBef>
                <a:spcPts val="400"/>
              </a:spcBef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From 47 Kenyan Counties to COMESA Cross-Border Scale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Months 1-12: Full rollout of all 25 modules, designated email alerts, 60m Red SLA, and God Mode across county fleets.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Months 13-24: Direct AKI DMVIC, NTSA TIMS &amp; KRA eTIMS B2B webhooks.</a:t>
            </a:r>
          </a:p>
          <a:p>
            <a:pPr algn="l">
              <a:spcBef>
                <a:spcPts val="500"/>
              </a:spcBef>
            </a:pPr>
            <a:r>
              <a:rPr lang="en-US" sz="980" b="0" dirty="0">
                <a:solidFill>
                  <a:srgbClr val="D4D4D8"/>
                </a:solidFill>
                <a:latin typeface="Arial"/>
              </a:rPr>
              <a:t>• Months 25-36: East African COMESA Yellow Card &amp; EV reinsurance pool.</a:t>
            </a:r>
          </a:p>
        </p:txBody>
      </p:sp>
      <p:sp>
        <p:nvSpPr>
          <p:cNvPr id="30" name="Footer"/>
          <p:cNvSpPr/>
          <p:nvPr/>
        </p:nvSpPr>
        <p:spPr>
          <a:xfrm>
            <a:off x="3300000" y="6280000"/>
            <a:ext cx="852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91440" rIns="114300" bIns="91440" anchor="t"/>
          <a:lstStyle/>
          <a:p>
            <a:pPr algn="l"/>
            <a:r>
              <a:rPr lang="en-US" sz="850" b="1" dirty="0">
                <a:solidFill>
                  <a:srgbClr val="F59E0B"/>
                </a:solidFill>
                <a:latin typeface="Courier New"/>
              </a:rPr>
              <a:t>SLIDE 12 / 12   ·   IV. AI, GOD MODE &amp; IMPACT   ·   </a:t>
            </a:r>
            <a:r>
              <a:rPr lang="en-US" sz="850" b="0" dirty="0">
                <a:solidFill>
                  <a:srgbClr val="71717A"/>
                </a:solidFill>
                <a:latin typeface="Arial"/>
              </a:rPr>
              <a:t>EIMS PROSYSTEM KENYA — https://eims-prosystem.web.app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IMS Orange Black">
  <a:themeElements>
    <a:clrScheme name="EIMS">
      <a:dk1>
        <a:srgbClr val="080706"/>
      </a:dk1>
      <a:lt1>
        <a:srgbClr val="FFFFFF"/>
      </a:lt1>
      <a:dk2>
        <a:srgbClr val="120F0C"/>
      </a:dk2>
      <a:lt2>
        <a:srgbClr val="D4D4D8"/>
      </a:lt2>
      <a:accent1>
        <a:srgbClr val="F59E0B"/>
      </a:accent1>
      <a:accent2>
        <a:srgbClr val="FF6B00"/>
      </a:accent2>
      <a:accent3>
        <a:srgbClr val="10B981"/>
      </a:accent3>
      <a:accent4>
        <a:srgbClr val="38BDF8"/>
      </a:accent4>
      <a:accent5>
        <a:srgbClr val="A855F7"/>
      </a:accent5>
      <a:accent6>
        <a:srgbClr val="EF4444"/>
      </a:accent6>
      <a:hlink>
        <a:srgbClr val="F59E0B"/>
      </a:hlink>
      <a:folHlink>
        <a:srgbClr val="D97706"/>
      </a:folHlink>
    </a:clrScheme>
    <a:fontScheme name="EIMS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IMS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