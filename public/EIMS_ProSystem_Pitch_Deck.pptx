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01 · EXECUTIVE COVER &amp; VISION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Next-Gen Autonomous Fleet &amp; General Insurance Infrastructure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Transforming Kenyan county &amp; commercial fleet underwriting, computer-vision FNOL claims triage, AKI digital motor certification, and sub-30-second multi-channel settlements.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37.28M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GROSS UNDERWRITTEN PREMIUM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92%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AUTO-PASS GREEN PATH ACCURACY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429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ACTIVE COUNTY &amp; FLEET POLICIES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&lt; 30s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INSTANT MULTI-CHANNEL SLA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NATIONAL SCOPE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Built for Kenya's 47 Counties &amp; Commercial Fleets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Unified underwriting and claims command platform purpose-built for county government fleets, electric vehicles (EV), motor comprehensive, and non-motor lines across Nairobi HQ, Mombasa, Kisumu, and Nakuru.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REGULATORY NATIVE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IRA Cap 487, Cap 405 &amp; KRA eTIMS Compliant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Native statutory computation of PHCF (0.25%), Insurance Training Levy (0.20%), Stamp Duty (KSh 40), KRA 16% VAT / 5% WHT, KIRA Form 104 filings, and AKI scannable 3-part digital certificates.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AI &amp; TELEMETRY FIRST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EXIF Scene Forensics &amp; Google Gemini Copilot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Every accident claim is cross-referenced against camera GPS EXIF coordinates, NTSA ANPR plate lookup, and an embedded Google Gemini 2.5 Flash executive synthesizer.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01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02 · THE PROBLEM TODAY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Why Legacy Kenyan Insurance Administration Leaks Millions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Manual claims folders, forged paper windshield stickers, delayed garage work orders, and fragmented tax ledgers erode underwriting profitability.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18-45 Days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LEGACY CLAIM SETTLEMENT CYCLE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14-22%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MOTOR CLAIMS FRAUD LEAKAGE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Silos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DISCONNECTED REGISTRY SYSTEMS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0% Live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FIELD ADJUSTER &amp; TOW VISIBILITY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01 · FRAUD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Unverified Accident Photos &amp; Location Spoofing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Adjusters receive WhatsApp photos stripped of EXIF metadata—allowing staged collisions, recycled damage photos, and out-of-jurisdiction claims (e.g., Mombasa photo filed as a Nairobi CBD accident).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02 · PAPER STICKERS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Paper Certificates Lack Cryptographic Proof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Static paper stickers cannot be cryptographically verified by traffic police or policyholders against live policy suspension/cancellation status in real time.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PAIN POINT 03 · TAX FRICTION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Manual Vouchers &amp; Statutory Drift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Spreadsheet reconciliation between underwriting debit notes, IRA solvency levies, KRA withholding taxes, and M-PESA/bank disbursements leads to double-payout risks and compliance penalties.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02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03 · 5 CORE DESIGN DECISIONS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5 Architectural Pillars Powering EIMS ProSystem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Every module in the platform follows five strict engineering invariants enforced by automated regression suites (check-ui.js &amp; check-rules.js).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52 / 52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AUTOMATED INVARIANTS PASSING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100%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FRONTEND / BACKEND MATH PARITY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3-Tier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GREEN / YELLOW / RED TRIAGE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SHA-256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IMMUTABLE AKI HASH SEALS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01 &amp; 02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1. Claims Telemetry · 2. Deterministic Triage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FNOL intake captures live camera photo/video + GPS EXIF + interactive damage canvas markers (Dent, Scratch, Crack). Claims scoring &lt;25% fraud auto-pass via Green Path; 25-59% route to Yellow Desk; &gt;=60% lock for SIU.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03 &amp; 04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3. Scannable 3-Sticker QR · 4. Parity Math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Every motor certificate renders File Copy, Duplicate, and Original stickers with an 85px QR code pointing to /?verifyCert=true. IRA Cap 487 rates are locked identically across frontend models and Cloud Functions.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DECISION 05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5. Accounting Integrity (New vs. Renewals)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Executive production ledgers strictly separate newly acquired policies from renewal files so branch growth metrics and broker commissions are never artificially inflated.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03 / 12   ·   I. VISION &amp; DESIGN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04 · 4 ROLES &amp; 24 PORTAL MODULES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Role-Gated Enterprise Workspace Across 7 Accordion Groups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A unified single-open accordion navigation drawer serving four specialized staff roles across 24 operational modules.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Roles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CLAIMS, UNDERWRITING, FINANCE, HQ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7 Groups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CORE, CLAIMS, FLEET, TAX, AI, SETTINGS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24 Modules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OPERATIONAL VIEWS + 18 MODALS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Branches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NAIROBI, MOMBASA, KISUMU, NAKURU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CLAIMS &amp; UNDERWRITING DESKS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Claims Administrator &amp; Underwriting Officer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Claims Admin: Register Claim (FNOL), Master Claims Directory, Garages &amp; Work Orders, Subrogation Recovery, GIS Telemetry Map.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Underwriting: Policy &amp; Cert Registry, County &amp; Commercial Fleet, International EV Premium, 3-Reinsurer Quota Share.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FINANCE &amp; COMPLIANCE DESK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Finance &amp; Settlements Officer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Instant Payouts: M-PESA B2C &amp; STK Push, Airtel Money, PesaLink EFT.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Statutory Filings: KRA iTax &amp; eTIMS (16% VAT, 5% Garage WHT, Stamp Duty), IRA Solvency Returns (CAR 184%).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EXECUTIVE &amp; SETTINGS COMMAND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Branch Manager &amp; System Administration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Executive Analytics: Reports &amp; Query Center, Loss Ratio Risk Analytics, Remote Staff Monitor, Google Gemini Copilot.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Settings Suite: Subscriptions &amp; Licenses, e-Citizen &amp; PesaFlow, Notification Simulator, Mobile App Portal Sim.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04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05 · FNOL TRIAGE &amp; GIS TELEMETRY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Computer Vision Scene Intake &amp; National Kenya GIS Command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From roadside accident capture to live geospatial tracking of claims, accredited garages, and breakdown recovery trucks.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14 Markers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LIVE NATIONAL GIS LAYERS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EXIF + GPS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SCENE COORDINATE VERIFICATION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NTSA ANPR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OPTICAL PLATE &amp; CHASSIS MATCH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75% Rate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GREEN-PATH FAST-TRACK APPROVAL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STEP 1 · SCENE CAPTURE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Live Camera Stream &amp; Damage Canvas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Field officers or claimants capture still photos or live video telemetry. Interactive canvas overlays record exact impact coordinates and calculate repair estimates automatically.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STEP 2 · SIU DETECTION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Metadata Mismatch &amp; Duplicate Plate Flagging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The fraud engine flags claims with missing GPS coordinates (+15 pts), zero damage annotations (+20 pts), delayed reporting &gt;14 days (+20 pts), repeat plate history, or location mismatches.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STEP 3 · GIS GEOMAP CENTER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Real-Time Dispatch Across Kenya Corridors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Interactive Leaflet/OpenStreetMap command view tracking active incidents, SIU red-path alerts, accredited repair garages, and mobile tow units across Nairobi, Mombasa Road, Nakuru, and Kisumu.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05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06 · 5-STAGE GARAGE &amp; SUBROGATION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Accredited Garage SLA Tracking &amp; Subrogation Recovery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End-to-end post-approval repair governance, digital release vouchers, salvage disposal, and third-party insurer recovery.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5 Stages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INTAKE TO QA PASS MILESTONES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4.85M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ACTIVE SUBROGATION PIPELINE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1.24M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SETTLED THIRD-PARTY RECOVERIES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22%+ Target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SIU INDEMNITY RECOVERY RATIO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ACCREDITED GARAGE NETWORK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5-Stage Milestone Tracker &amp; 5% KRA WHT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Real-time work orders across Nairobi Auto Care, Coast Breakdown, Lakeside Motors, and Rift Valley Clinic. Digital repair release vouchers automatically compute 5% KRA Withholding Tax.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SUBROGATION &amp; LEGAL RECOVERY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Automated Third-Party Insurer Demand Tracking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Tracks fault liability, demand letters, arbitration status, and recovery receipts against negligent third-party underwriters—shortening liability assignment by an average of 18 days.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SALVAGE ASSET DISPOSAL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Total-Loss Wreckage Valuation &amp; Auction Ledger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Catalogs write-off vehicles, reserve prices, and highest auction bids (KSh 890,000 recovered across 3 disposed total-loss salvages) to offset gross claim indemnity.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06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07 · 3-STICKER AKI QR CERTIFICATE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Kenyan 3-Part Windshield Certificate &amp; Public QR Verifier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Compliant with Motor Vehicles Third Party Risks Act (Cap 405) &amp; Association of Kenya Insurers (AKI) digital registry standards.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3 Stickers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FILE COPY + DUPLICATE + ORIGINAL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85px x 85px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SCANNABLE QR CONTAINER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SHA-256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CRYPTOGRAPHIC ANTI-TAMPER SEAL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Public URL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/?VERIFYCERT=TRUE MOBILE SCAN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KENYAN WINDSHIELD STANDARD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Side-by-Side 3-Copy Certificate Layout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Renders the official green/white 3-sticker layout (File Copy, Duplicate, and Original Certificate of Insurance) synchronized dynamically with Policyholder, Policy No, Validity Dates, Registration Plate, and Chassis.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INSTANT CAMERA SCAN VERIFICATION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Zero-App Smartphone &amp; Traffic Police Scanning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Scanning the embedded 85px QR code with any mobile camera opens /?verifyCert=true, triggering the Public Verification Modal with live AKI registry status, vehicle plate, and SHA-256 hash.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IMMUTABLE ANTI-TAMPER PROTECTION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Fraudulent Edit Detection &amp; Integrity Audit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Includes built-in SHA-256 integrity auditing and tamper simulation—automatically revoking certificate validity if unauthorized DOM or payload mutation is detected.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07 / 12   ·   II. OPERATIONS &amp; WORKFLOWS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08 · 4-LAYER CLOUD ARCHITECTURE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Serverless Firebase, Next.js &amp; Capacitor Hybrid Stack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Engineered for sub-second interactivity, offline-capable field operations, and zero-downtime static + serverless scaling.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Layers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PWA, EDGE CDN, FUNCTIONS, DB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 Idle Recalcs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GPU-CLEAN CSS PERFORMANCE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6 Collections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REAL-TIME FIRESTORE LISTENERS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Android APK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CAPACITOR 8.5 NATIVE MOBILE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1 &amp; 2 · PRESENTATION &amp; EDGE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Dual SPA / Next.js 16 + Firebase Hosting CDN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Ships a zero-latency 24-view portal alongside a modular Next.js App Router build and Capacitor Android wrapper, served globally over Firebase Hosting with strict no-cache JS/CSS headers.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3 · SERVERLESS DOMAIN ENGINE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Firebase Cloud Functions (backend/functions/rules.js)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Executes authoritative server-side fraud scoring (scoreFraud), statutory tax calculation (statutoryTax), and settlement eligibility gating (canSettle) before ledger mutation.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LAYER 4 · REAL-TIME PERSISTENCE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Cloud Firestore + Multi-Tenant Routing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Real-time synchronization across claims, policies, certificates, notification_logs, work_orders, and user_seats with automatic fallback to deterministic local seed datasets.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08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09 · ZERO-TRUST &amp; CAP 487 MODEL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Zero-Trust Firestore Security Rules &amp; Statutory Compliance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Production-hardened access control protecting claimant PII while preserving public motor certificate verifiability.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Default Deny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GLOBAL FALLBACK READ/WRITE FALSE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Auth-Gated PII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/CLAIMS &amp; /POLICIES STAFF ONLY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Write-Locked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/CERTIFICATES IMMUTABLE PUBLIC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184% CAR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IRA CAPITAL ADEQUACY RATIO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ZERO-TRUST FIRESTORE RULES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Strict Collection-Level Least Privilege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/claims/{claimId}: Auth required for read/create/update; vehicle string &lt;=20 chars enforced; admin-only delete.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/certificates/{certId}: Public read for roadside QR verification; write locked.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/user_seats/{userId}: Owner/Admin read; Admin-only write.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INSURANCE ACT CAP 487 &amp; KRA ETIMS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Automated Statutory Levy &amp; Tax Remittance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Automatically computes and separates PHCF (0.25%), Training Levy (0.20%), Stamp Duty (KSh 40), 16% VAT (Form VAT 3), and 5% Garage WHT (Form WHT-1) with 1-click KRA iTax batch filing.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E-CITIZEN &amp; PESAFLOW GATEWAY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Paybill 222222 &amp; Republic of Kenya SSO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Integrated e-Citizen National ID Single Sign-On and PesaFlow Government Payment checkout supporting M-PESA STK Push, Visa/Mastercard, Airtel Money, and KCB/Equity bank slips.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09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10 · GOVERNANCE &amp; 4 LICENSING TIERS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Multi-Branch Seat Governance, Reinsurance &amp; SaaS Tiers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Scalable enterprise licensing, 3-reinsurer quota share risk allocation, and live remote staff productivity monitoring.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 Tiers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STARTER, COUNTY, ENTERPRISE, NAT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3 Reinsurers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KENYA RE, ZEP-RE, AFRICA RE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25% Retention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DYNAMIC NET RISK RETENTION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RBAC Seats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BRANCH &amp; ROLE PROVISIONING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REINSURANCE TREATY ALLOCATOR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3-Reinsurer Quota Share Risk Ceding Engine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Interactive treaty calculator dynamically splitting gross exposure across Kenya Reinsurance Corp (35% statutory), ZEP-RE PTA (25%), Africa Re (15%), and EIMS Net Retention (25%).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4 COMMERCIAL LICENSING TIERS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Modular SaaS &amp; County Enterprise Subscriptions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Tier 1: Agency Broker Starter (Up to 10 seats)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Tier 2: County Fleet Standard (ANPR + GIS + 50 seats)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Tier 3: Enterprise Underwriter (Full 24 modules + Gemini AI)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Tier 4: National Multi-Branch Unlimited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REMOTE STAFF &amp; SLA GOVERNANCE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Live Adjuster Telemetry &amp; Audit Trail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Tracks active staff sessions, claims processed per hour, branch turnaround times, and immutable notification logs across SMS, WhatsApp, and Email channels.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10 / 12   ·   III. ARCHITECTURE &amp; TRUST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11 · GEMINI AI COPILOT &amp; GUARDRAILS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Dedicated Google Gemini 2.5 Flash Executive Copilot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Natural-language executive intelligence grounded strictly in live underwriting, claims, subrogation, and certificate ledgers.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Gemini 2.5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EXECUTIVE REPORT SYNTHESIZER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6 Quick Pills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1-CLICK EXECUTIVE BRIEFINGS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0 Hallucination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GROUNDED IN LIVE LEDGERS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PDF Export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PRINTABLE EXECUTIVE BRIEFS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6 PREDEFINED EXECUTIVE PILLS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Instant Synthesis Across Every Core Domain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1. Executive Summary · 2. Branch Performance · 3. Fraud &amp; Risk Audit · 4. KIRA Brief · 5. Claims &amp; Recovery (Subrogation &amp; Salvage) · 6. Certificates (AKI Registry Sync &amp; SHA-256 Seals).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ACCOUNTING &amp; AUDIT GUARDRAILS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Strict Exclusion of Renewals from New Production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Gemini synthesis enforces KIRA accounting rules—reporting new policy acquisitions (110 new policies, KSh 7.40M) separately from policy renewals (70 renewals excluded from new production).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ANPR &amp; COMPUTER VISION PIPELINE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98.4% Optical Character Recognition Accuracy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Trained on Kenyan number plate series (KAA-KDZ, County Government CG plates, and green EV plates) for instant logbook and policy cross-verification.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11 / 12   ·   IV. AI, ROADMAP &amp; IMPACT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706"/>
          </a:solidFill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SidebarBg"/>
          <p:cNvSpPr/>
          <p:nvPr/>
        </p:nvSpPr>
        <p:spPr>
          <a:xfrm>
            <a:off x="0" y="0"/>
            <a:ext cx="2950000" cy="6858000"/>
          </a:xfrm>
          <a:prstGeom prst="rect">
            <a:avLst/>
          </a:prstGeom>
          <a:solidFill>
            <a:srgbClr val="0A0806"/>
          </a:solidFill>
          <a:ln w="12700">
            <a:solidFill>
              <a:srgbClr val="272015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4" name="BrandHeader"/>
          <p:cNvSpPr/>
          <p:nvPr/>
        </p:nvSpPr>
        <p:spPr>
          <a:xfrm>
            <a:off x="160000" y="160000"/>
            <a:ext cx="263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500" b="1" dirty="0">
                <a:solidFill>
                  <a:srgbClr val="F59E0B"/>
                </a:solidFill>
                <a:latin typeface="Arial"/>
              </a:rPr>
              <a:t>EIMS PROSYSTEM</a:t>
            </a:r>
          </a:p>
          <a:p>
            <a:pPr algn="l">
              <a:spcBef>
                <a:spcPts val="300"/>
              </a:spcBef>
            </a:pPr>
            <a:r>
              <a:rPr lang="en-US" sz="750" b="1" dirty="0">
                <a:solidFill>
                  <a:srgbClr val="A1A1AA"/>
                </a:solidFill>
                <a:latin typeface="Arial"/>
              </a:rPr>
              <a:t>KENYA INSURTECH DECK · 12 SLIDES</a:t>
            </a:r>
          </a:p>
        </p:txBody>
      </p:sp>
      <p:sp>
        <p:nvSpPr>
          <p:cNvPr id="5" name="Sec_0"/>
          <p:cNvSpPr/>
          <p:nvPr/>
        </p:nvSpPr>
        <p:spPr>
          <a:xfrm>
            <a:off x="160000" y="76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I. VISION &amp; DESIGN</a:t>
            </a:r>
          </a:p>
        </p:txBody>
      </p:sp>
      <p:sp>
        <p:nvSpPr>
          <p:cNvPr id="6" name="Nav_01"/>
          <p:cNvSpPr/>
          <p:nvPr/>
        </p:nvSpPr>
        <p:spPr>
          <a:xfrm>
            <a:off x="160000" y="99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Executive Cover &amp; Vision</a:t>
            </a:r>
          </a:p>
        </p:txBody>
      </p:sp>
      <p:sp>
        <p:nvSpPr>
          <p:cNvPr id="7" name="Nav_02"/>
          <p:cNvSpPr/>
          <p:nvPr/>
        </p:nvSpPr>
        <p:spPr>
          <a:xfrm>
            <a:off x="160000" y="137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02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The Problem Today</a:t>
            </a:r>
          </a:p>
        </p:txBody>
      </p:sp>
      <p:sp>
        <p:nvSpPr>
          <p:cNvPr id="8" name="Nav_03"/>
          <p:cNvSpPr/>
          <p:nvPr/>
        </p:nvSpPr>
        <p:spPr>
          <a:xfrm>
            <a:off x="160000" y="174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03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 Core Design Decisions</a:t>
            </a:r>
          </a:p>
        </p:txBody>
      </p:sp>
      <p:sp>
        <p:nvSpPr>
          <p:cNvPr id="9" name="Sec_3"/>
          <p:cNvSpPr/>
          <p:nvPr/>
        </p:nvSpPr>
        <p:spPr>
          <a:xfrm>
            <a:off x="160000" y="2120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II. OPERATIONS &amp; WORKFLOWS</a:t>
            </a:r>
          </a:p>
        </p:txBody>
      </p:sp>
      <p:sp>
        <p:nvSpPr>
          <p:cNvPr id="10" name="Nav_04"/>
          <p:cNvSpPr/>
          <p:nvPr/>
        </p:nvSpPr>
        <p:spPr>
          <a:xfrm>
            <a:off x="160000" y="235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04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 Roles &amp; 24 Portal Modules</a:t>
            </a:r>
          </a:p>
        </p:txBody>
      </p:sp>
      <p:sp>
        <p:nvSpPr>
          <p:cNvPr id="11" name="Nav_05"/>
          <p:cNvSpPr/>
          <p:nvPr/>
        </p:nvSpPr>
        <p:spPr>
          <a:xfrm>
            <a:off x="160000" y="273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05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FNOL Triage &amp; GIS Telemetry</a:t>
            </a:r>
          </a:p>
        </p:txBody>
      </p:sp>
      <p:sp>
        <p:nvSpPr>
          <p:cNvPr id="12" name="Nav_06"/>
          <p:cNvSpPr/>
          <p:nvPr/>
        </p:nvSpPr>
        <p:spPr>
          <a:xfrm>
            <a:off x="160000" y="310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06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5-Stage Garage &amp; Subrogation</a:t>
            </a:r>
          </a:p>
        </p:txBody>
      </p:sp>
      <p:sp>
        <p:nvSpPr>
          <p:cNvPr id="13" name="Nav_07"/>
          <p:cNvSpPr/>
          <p:nvPr/>
        </p:nvSpPr>
        <p:spPr>
          <a:xfrm>
            <a:off x="160000" y="348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07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3-Sticker AKI QR Certificate</a:t>
            </a:r>
          </a:p>
        </p:txBody>
      </p:sp>
      <p:sp>
        <p:nvSpPr>
          <p:cNvPr id="14" name="Sec_7"/>
          <p:cNvSpPr/>
          <p:nvPr/>
        </p:nvSpPr>
        <p:spPr>
          <a:xfrm>
            <a:off x="160000" y="385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III. ARCHITECTURE &amp; TRUST</a:t>
            </a:r>
          </a:p>
        </p:txBody>
      </p:sp>
      <p:sp>
        <p:nvSpPr>
          <p:cNvPr id="15" name="Nav_08"/>
          <p:cNvSpPr/>
          <p:nvPr/>
        </p:nvSpPr>
        <p:spPr>
          <a:xfrm>
            <a:off x="160000" y="409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08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4-Layer Cloud Architecture</a:t>
            </a:r>
          </a:p>
        </p:txBody>
      </p:sp>
      <p:sp>
        <p:nvSpPr>
          <p:cNvPr id="16" name="Nav_09"/>
          <p:cNvSpPr/>
          <p:nvPr/>
        </p:nvSpPr>
        <p:spPr>
          <a:xfrm>
            <a:off x="160000" y="446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09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Zero-Trust &amp; Cap 487 Model</a:t>
            </a:r>
          </a:p>
        </p:txBody>
      </p:sp>
      <p:sp>
        <p:nvSpPr>
          <p:cNvPr id="17" name="Nav_10"/>
          <p:cNvSpPr/>
          <p:nvPr/>
        </p:nvSpPr>
        <p:spPr>
          <a:xfrm>
            <a:off x="160000" y="484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10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Governance &amp; 4 Licensing Tiers</a:t>
            </a:r>
          </a:p>
        </p:txBody>
      </p:sp>
      <p:sp>
        <p:nvSpPr>
          <p:cNvPr id="18" name="Sec_10"/>
          <p:cNvSpPr/>
          <p:nvPr/>
        </p:nvSpPr>
        <p:spPr>
          <a:xfrm>
            <a:off x="160000" y="5215000"/>
            <a:ext cx="263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750" b="1" dirty="0">
                <a:solidFill>
                  <a:srgbClr val="FFFFFF"/>
                </a:solidFill>
                <a:latin typeface="Arial"/>
              </a:rPr>
              <a:t>IV. AI, ROADMAP &amp; IMPACT</a:t>
            </a:r>
          </a:p>
        </p:txBody>
      </p:sp>
      <p:sp>
        <p:nvSpPr>
          <p:cNvPr id="19" name="Nav_11"/>
          <p:cNvSpPr/>
          <p:nvPr/>
        </p:nvSpPr>
        <p:spPr>
          <a:xfrm>
            <a:off x="160000" y="5450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120F0C"/>
          </a:solidFill>
          <a:ln w="12700">
            <a:solidFill>
              <a:srgbClr val="221E1A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11   </a:t>
            </a:r>
            <a:r>
              <a:rPr lang="en-US" sz="950" b="0" dirty="0">
                <a:solidFill>
                  <a:srgbClr val="D4D4D8"/>
                </a:solidFill>
                <a:latin typeface="Arial"/>
              </a:rPr>
              <a:t>Gemini AI Copilot &amp; Guardrails</a:t>
            </a:r>
          </a:p>
        </p:txBody>
      </p:sp>
      <p:sp>
        <p:nvSpPr>
          <p:cNvPr id="20" name="Nav_12"/>
          <p:cNvSpPr/>
          <p:nvPr/>
        </p:nvSpPr>
        <p:spPr>
          <a:xfrm>
            <a:off x="160000" y="5825000"/>
            <a:ext cx="2630000" cy="340000"/>
          </a:xfrm>
          <a:prstGeom prst="roundRect">
            <a:avLst>
              <a:gd name="adj" fmla="val 18000"/>
            </a:avLst>
          </a:prstGeom>
          <a:solidFill>
            <a:srgbClr val="26190A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900" b="1" dirty="0">
                <a:solidFill>
                  <a:srgbClr val="F59E0B"/>
                </a:solidFill>
                <a:latin typeface="Courier New"/>
              </a:rPr>
              <a:t>12   </a:t>
            </a:r>
            <a:r>
              <a:rPr lang="en-US" sz="950" b="1" dirty="0">
                <a:solidFill>
                  <a:srgbClr val="F59E0B"/>
                </a:solidFill>
                <a:latin typeface="Arial"/>
              </a:rPr>
              <a:t>36-Mo Roadmap &amp; Targets</a:t>
            </a:r>
          </a:p>
        </p:txBody>
      </p:sp>
      <p:sp>
        <p:nvSpPr>
          <p:cNvPr id="21" name="SlideBadge"/>
          <p:cNvSpPr/>
          <p:nvPr/>
        </p:nvSpPr>
        <p:spPr>
          <a:xfrm>
            <a:off x="3300000" y="320000"/>
            <a:ext cx="3400000" cy="320000"/>
          </a:xfrm>
          <a:prstGeom prst="roundRect">
            <a:avLst>
              <a:gd name="adj" fmla="val 50000"/>
            </a:avLst>
          </a:prstGeom>
          <a:solidFill>
            <a:srgbClr val="1F1408"/>
          </a:solidFill>
          <a:ln w="12700">
            <a:solidFill>
              <a:srgbClr val="D97706"/>
            </a:solidFill>
          </a:ln>
        </p:spPr>
        <p:txBody>
          <a:bodyPr wrap="square" lIns="114300" tIns="91440" rIns="114300" bIns="91440" anchor="ctr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Arial"/>
              </a:rPr>
              <a:t>SLIDE 12 · 36-MO ROADMAP &amp; TARGETS</a:t>
            </a:r>
          </a:p>
        </p:txBody>
      </p:sp>
      <p:sp>
        <p:nvSpPr>
          <p:cNvPr id="22" name="SlideTitle"/>
          <p:cNvSpPr/>
          <p:nvPr/>
        </p:nvSpPr>
        <p:spPr>
          <a:xfrm>
            <a:off x="3300000" y="720000"/>
            <a:ext cx="852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Arial"/>
              </a:rPr>
              <a:t>36-Month National Scale Roadmap &amp; Impact Targets</a:t>
            </a:r>
          </a:p>
          <a:p>
            <a:pPr algn="l">
              <a:spcBef>
                <a:spcPts val="600"/>
              </a:spcBef>
            </a:pPr>
            <a:r>
              <a:rPr lang="en-US" sz="1150" b="0" dirty="0">
                <a:solidFill>
                  <a:srgbClr val="D4D4D8"/>
                </a:solidFill>
                <a:latin typeface="Arial"/>
              </a:rPr>
              <a:t>Phased expansion from county government fleet deployments to East African regional COMESA Yellow Card interoperability.</a:t>
            </a:r>
          </a:p>
        </p:txBody>
      </p:sp>
      <p:sp>
        <p:nvSpPr>
          <p:cNvPr id="23" name="KPI_0"/>
          <p:cNvSpPr/>
          <p:nvPr/>
        </p:nvSpPr>
        <p:spPr>
          <a:xfrm>
            <a:off x="330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47 Counties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MONTH 12-24 NATIONAL TARGET</a:t>
            </a:r>
          </a:p>
        </p:txBody>
      </p:sp>
      <p:sp>
        <p:nvSpPr>
          <p:cNvPr id="24" name="KPI_1"/>
          <p:cNvSpPr/>
          <p:nvPr/>
        </p:nvSpPr>
        <p:spPr>
          <a:xfrm>
            <a:off x="547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KSh 2.5B+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TARGET ANNUAL GWP PROCESSED</a:t>
            </a:r>
          </a:p>
        </p:txBody>
      </p:sp>
      <p:sp>
        <p:nvSpPr>
          <p:cNvPr id="25" name="KPI_2"/>
          <p:cNvSpPr/>
          <p:nvPr/>
        </p:nvSpPr>
        <p:spPr>
          <a:xfrm>
            <a:off x="764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&lt; 15 Mins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GREEN-PATH FNOL TO PAYOUT</a:t>
            </a:r>
          </a:p>
        </p:txBody>
      </p:sp>
      <p:sp>
        <p:nvSpPr>
          <p:cNvPr id="26" name="KPI_3"/>
          <p:cNvSpPr/>
          <p:nvPr/>
        </p:nvSpPr>
        <p:spPr>
          <a:xfrm>
            <a:off x="9810000" y="1980000"/>
            <a:ext cx="2010000" cy="1050000"/>
          </a:xfrm>
          <a:prstGeom prst="roundRect">
            <a:avLst>
              <a:gd name="adj" fmla="val 12000"/>
            </a:avLst>
          </a:prstGeom>
          <a:solidFill>
            <a:srgbClr val="120E0A"/>
          </a:solidFill>
          <a:ln w="12700">
            <a:solidFill>
              <a:srgbClr val="78450F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1900" b="1" dirty="0">
                <a:solidFill>
                  <a:srgbClr val="F59E0B"/>
                </a:solidFill>
                <a:latin typeface="Arial"/>
              </a:rPr>
              <a:t>99.95%</a:t>
            </a:r>
          </a:p>
          <a:p>
            <a:pPr algn="l">
              <a:spcBef>
                <a:spcPts val="500"/>
              </a:spcBef>
            </a:pPr>
            <a:r>
              <a:rPr lang="en-US" sz="800" b="1" dirty="0">
                <a:solidFill>
                  <a:srgbClr val="A1A1AA"/>
                </a:solidFill>
                <a:latin typeface="Arial"/>
              </a:rPr>
              <a:t>CLOUD &amp; CERT UPTIME SLA</a:t>
            </a:r>
          </a:p>
        </p:txBody>
      </p:sp>
      <p:sp>
        <p:nvSpPr>
          <p:cNvPr id="27" name="Card_0"/>
          <p:cNvSpPr/>
          <p:nvPr/>
        </p:nvSpPr>
        <p:spPr>
          <a:xfrm>
            <a:off x="33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PHASE 1 · MONTHS 1-12 (FOUNDATION)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Production Launch Across Major Kenyan Counties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Full deployment of all 24 EIMS modules, 3-sticker AKI QR certificates, and M-PESA/PesaFlow gateways.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Onboarding initial 12 County Government fleets and 25+ accredited motor repair garages.</a:t>
            </a:r>
          </a:p>
        </p:txBody>
      </p:sp>
      <p:sp>
        <p:nvSpPr>
          <p:cNvPr id="28" name="Card_1"/>
          <p:cNvSpPr/>
          <p:nvPr/>
        </p:nvSpPr>
        <p:spPr>
          <a:xfrm>
            <a:off x="62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PHASE 2 · MONTHS 13-24 (DIRECT B2B API)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Direct AKI / NTSA / KRA eTIMS Live Bridges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Live bi-directional webhook sync with AKI DMVIC API, NTSA TIMS logbook registry, and KRA eTIMS control unit serials.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IoT OBD-II &amp; dashcam crash telemetry auto-triggering FNOL claims.</a:t>
            </a:r>
          </a:p>
        </p:txBody>
      </p:sp>
      <p:sp>
        <p:nvSpPr>
          <p:cNvPr id="29" name="Card_2"/>
          <p:cNvSpPr/>
          <p:nvPr/>
        </p:nvSpPr>
        <p:spPr>
          <a:xfrm>
            <a:off x="9100000" y="3240000"/>
            <a:ext cx="2720000" cy="2850000"/>
          </a:xfrm>
          <a:prstGeom prst="roundRect">
            <a:avLst>
              <a:gd name="adj" fmla="val 8000"/>
            </a:avLst>
          </a:prstGeom>
          <a:solidFill>
            <a:srgbClr val="110E0B"/>
          </a:solidFill>
          <a:ln w="12700">
            <a:solidFill>
              <a:srgbClr val="45270A"/>
            </a:solidFill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00" b="1" dirty="0">
                <a:solidFill>
                  <a:srgbClr val="F59E0B"/>
                </a:solidFill>
                <a:latin typeface="Courier New"/>
              </a:rPr>
              <a:t>PHASE 3 · MONTHS 25-36 (REGIONAL SCALE)</a:t>
            </a:r>
          </a:p>
          <a:p>
            <a:pPr algn="l">
              <a:spcBef>
                <a:spcPts val="400"/>
              </a:spcBef>
            </a:pPr>
            <a:r>
              <a:rPr lang="en-US" sz="1250" b="1" dirty="0">
                <a:solidFill>
                  <a:srgbClr val="FFFFFF"/>
                </a:solidFill>
                <a:latin typeface="Arial"/>
              </a:rPr>
              <a:t>COMESA Yellow Card &amp; Cross-Border Reinsurance</a:t>
            </a:r>
          </a:p>
          <a:p>
            <a:pPr algn="l">
              <a:spcBef>
                <a:spcPts val="500"/>
              </a:spcBef>
            </a:pPr>
            <a:r>
              <a:rPr lang="en-US" sz="980" b="0" dirty="0">
                <a:solidFill>
                  <a:srgbClr val="D4D4D8"/>
                </a:solidFill>
                <a:latin typeface="Arial"/>
              </a:rPr>
              <a:t>• Expansion across Uganda, Tanzania, and Rwanda corridors with multi-currency settlement and automated cross-border subrogation clearing.</a:t>
            </a:r>
          </a:p>
        </p:txBody>
      </p:sp>
      <p:sp>
        <p:nvSpPr>
          <p:cNvPr id="30" name="Footer"/>
          <p:cNvSpPr/>
          <p:nvPr/>
        </p:nvSpPr>
        <p:spPr>
          <a:xfrm>
            <a:off x="3300000" y="6280000"/>
            <a:ext cx="852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114300" tIns="91440" rIns="114300" bIns="91440" anchor="t"/>
          <a:lstStyle/>
          <a:p>
            <a:pPr algn="l"/>
            <a:r>
              <a:rPr lang="en-US" sz="850" b="1" dirty="0">
                <a:solidFill>
                  <a:srgbClr val="F59E0B"/>
                </a:solidFill>
                <a:latin typeface="Courier New"/>
              </a:rPr>
              <a:t>SLIDE 12 / 12   ·   IV. AI, ROADMAP &amp; IMPACT   ·   </a:t>
            </a:r>
            <a:r>
              <a:rPr lang="en-US" sz="850" b="0" dirty="0">
                <a:solidFill>
                  <a:srgbClr val="71717A"/>
                </a:solidFill>
                <a:latin typeface="Arial"/>
              </a:rPr>
              <a:t>EIMS PROSYSTEM KENYA — https://eims-prosystem.web.app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MS Orange Black">
  <a:themeElements>
    <a:clrScheme name="EIMS">
      <a:dk1>
        <a:srgbClr val="080706"/>
      </a:dk1>
      <a:lt1>
        <a:srgbClr val="FFFFFF"/>
      </a:lt1>
      <a:dk2>
        <a:srgbClr val="120F0C"/>
      </a:dk2>
      <a:lt2>
        <a:srgbClr val="D4D4D8"/>
      </a:lt2>
      <a:accent1>
        <a:srgbClr val="F59E0B"/>
      </a:accent1>
      <a:accent2>
        <a:srgbClr val="FF6B00"/>
      </a:accent2>
      <a:accent3>
        <a:srgbClr val="10B981"/>
      </a:accent3>
      <a:accent4>
        <a:srgbClr val="38BDF8"/>
      </a:accent4>
      <a:accent5>
        <a:srgbClr val="A855F7"/>
      </a:accent5>
      <a:accent6>
        <a:srgbClr val="EF4444"/>
      </a:accent6>
      <a:hlink>
        <a:srgbClr val="F59E0B"/>
      </a:hlink>
      <a:folHlink>
        <a:srgbClr val="D97706"/>
      </a:folHlink>
    </a:clrScheme>
    <a:fontScheme name="EIMS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IMS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